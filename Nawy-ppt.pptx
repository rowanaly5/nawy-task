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256" r:id="rId3"/>
    <p:sldId id="257" r:id="rId4"/>
    <p:sldId id="273" r:id="rId5"/>
    <p:sldId id="267" r:id="rId6"/>
    <p:sldId id="288" r:id="rId7"/>
    <p:sldId id="286" r:id="rId8"/>
    <p:sldId id="289" r:id="rId9"/>
    <p:sldId id="291" r:id="rId10"/>
    <p:sldId id="292" r:id="rId11"/>
    <p:sldId id="293" r:id="rId12"/>
    <p:sldId id="294" r:id="rId13"/>
    <p:sldId id="295" r:id="rId14"/>
    <p:sldId id="297" r:id="rId15"/>
    <p:sldId id="298" r:id="rId16"/>
    <p:sldId id="300" r:id="rId17"/>
    <p:sldId id="301" r:id="rId18"/>
    <p:sldId id="302" r:id="rId19"/>
    <p:sldId id="299" r:id="rId20"/>
    <p:sldId id="303" r:id="rId21"/>
    <p:sldId id="304" r:id="rId22"/>
    <p:sldId id="305" r:id="rId23"/>
    <p:sldId id="306" r:id="rId24"/>
    <p:sldId id="307" r:id="rId25"/>
    <p:sldId id="308" r:id="rId26"/>
    <p:sldId id="309" r:id="rId27"/>
    <p:sldId id="310" r:id="rId28"/>
    <p:sldId id="312" r:id="rId29"/>
    <p:sldId id="313" r:id="rId30"/>
    <p:sldId id="314" r:id="rId31"/>
    <p:sldId id="315" r:id="rId32"/>
    <p:sldId id="317" r:id="rId33"/>
    <p:sldId id="318" r:id="rId34"/>
    <p:sldId id="319" r:id="rId35"/>
  </p:sldIdLst>
  <p:sldSz cx="12192000" cy="68580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SimSun"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8BA"/>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4"/>
    <p:restoredTop sz="94660"/>
  </p:normalViewPr>
  <p:slideViewPr>
    <p:cSldViewPr snapToGrid="0" showGuides="1">
      <p:cViewPr>
        <p:scale>
          <a:sx n="75" d="100"/>
          <a:sy n="75" d="100"/>
        </p:scale>
        <p:origin x="-1890" y="-942"/>
      </p:cViewPr>
      <p:guideLst>
        <p:guide orient="horz" pos="2161"/>
        <p:guide pos="3898"/>
      </p:guideLst>
    </p:cSldViewPr>
  </p:slideViewPr>
  <p:notesTextViewPr>
    <p:cViewPr>
      <p:scale>
        <a:sx n="1" d="1"/>
        <a:sy n="1" d="1"/>
      </p:scale>
      <p:origin x="0" y="0"/>
    </p:cViewPr>
  </p:notesTextViewPr>
  <p:sorterViewPr showFormatting="0">
    <p:cViewPr>
      <p:scale>
        <a:sx n="75" d="100"/>
        <a:sy n="75" d="100"/>
      </p:scale>
      <p:origin x="0" y="-554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B8BA"/>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9BA8CB6-DD89-4312-BED9-2EB435CA93F5}"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7.png"/><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1.png"/><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nvSpPr>
        <p:spPr>
          <a:xfrm>
            <a:off x="746125" y="-57150"/>
            <a:ext cx="4162425" cy="3667125"/>
          </a:xfrm>
          <a:custGeom>
            <a:avLst/>
            <a:gdLst>
              <a:gd name="connsiteX0" fmla="*/ 1585913 w 4162425"/>
              <a:gd name="connsiteY0" fmla="*/ 0 h 3667125"/>
              <a:gd name="connsiteX1" fmla="*/ 2576513 w 4162425"/>
              <a:gd name="connsiteY1" fmla="*/ 0 h 3667125"/>
              <a:gd name="connsiteX2" fmla="*/ 4162425 w 4162425"/>
              <a:gd name="connsiteY2" fmla="*/ 1585913 h 3667125"/>
              <a:gd name="connsiteX3" fmla="*/ 2081213 w 4162425"/>
              <a:gd name="connsiteY3" fmla="*/ 3667125 h 3667125"/>
              <a:gd name="connsiteX4" fmla="*/ 0 w 4162425"/>
              <a:gd name="connsiteY4" fmla="*/ 1585913 h 3667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425" h="3667125">
                <a:moveTo>
                  <a:pt x="1585913" y="0"/>
                </a:moveTo>
                <a:lnTo>
                  <a:pt x="2576513" y="0"/>
                </a:lnTo>
                <a:lnTo>
                  <a:pt x="4162425" y="1585913"/>
                </a:lnTo>
                <a:lnTo>
                  <a:pt x="2081213" y="3667125"/>
                </a:lnTo>
                <a:lnTo>
                  <a:pt x="0" y="1585913"/>
                </a:lnTo>
                <a:close/>
              </a:path>
            </a:pathLst>
          </a:cu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任意多边形 8"/>
          <p:cNvSpPr/>
          <p:nvPr/>
        </p:nvSpPr>
        <p:spPr>
          <a:xfrm>
            <a:off x="-28575" y="2154238"/>
            <a:ext cx="1933575" cy="3810000"/>
          </a:xfrm>
          <a:custGeom>
            <a:avLst/>
            <a:gdLst>
              <a:gd name="connsiteX0" fmla="*/ 28575 w 1933575"/>
              <a:gd name="connsiteY0" fmla="*/ 0 h 3810000"/>
              <a:gd name="connsiteX1" fmla="*/ 1933575 w 1933575"/>
              <a:gd name="connsiteY1" fmla="*/ 1905000 h 3810000"/>
              <a:gd name="connsiteX2" fmla="*/ 28575 w 1933575"/>
              <a:gd name="connsiteY2" fmla="*/ 3810000 h 3810000"/>
              <a:gd name="connsiteX3" fmla="*/ 0 w 1933575"/>
              <a:gd name="connsiteY3" fmla="*/ 3781425 h 3810000"/>
              <a:gd name="connsiteX4" fmla="*/ 0 w 1933575"/>
              <a:gd name="connsiteY4" fmla="*/ 28575 h 38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3575" h="3810000">
                <a:moveTo>
                  <a:pt x="28575" y="0"/>
                </a:moveTo>
                <a:lnTo>
                  <a:pt x="1933575" y="1905000"/>
                </a:lnTo>
                <a:lnTo>
                  <a:pt x="28575" y="3810000"/>
                </a:lnTo>
                <a:lnTo>
                  <a:pt x="0" y="3781425"/>
                </a:lnTo>
                <a:lnTo>
                  <a:pt x="0" y="28575"/>
                </a:lnTo>
                <a:close/>
              </a:path>
            </a:pathLst>
          </a:cu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任意多边形 14"/>
          <p:cNvSpPr/>
          <p:nvPr/>
        </p:nvSpPr>
        <p:spPr>
          <a:xfrm>
            <a:off x="769938" y="4506913"/>
            <a:ext cx="3810000" cy="2351088"/>
          </a:xfrm>
          <a:custGeom>
            <a:avLst/>
            <a:gdLst>
              <a:gd name="connsiteX0" fmla="*/ 1905000 w 3810000"/>
              <a:gd name="connsiteY0" fmla="*/ 0 h 2351881"/>
              <a:gd name="connsiteX1" fmla="*/ 3810000 w 3810000"/>
              <a:gd name="connsiteY1" fmla="*/ 1905000 h 2351881"/>
              <a:gd name="connsiteX2" fmla="*/ 3363119 w 3810000"/>
              <a:gd name="connsiteY2" fmla="*/ 2351881 h 2351881"/>
              <a:gd name="connsiteX3" fmla="*/ 446881 w 3810000"/>
              <a:gd name="connsiteY3" fmla="*/ 2351881 h 2351881"/>
              <a:gd name="connsiteX4" fmla="*/ 0 w 3810000"/>
              <a:gd name="connsiteY4" fmla="*/ 1905000 h 2351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0" h="2351881">
                <a:moveTo>
                  <a:pt x="1905000" y="0"/>
                </a:moveTo>
                <a:lnTo>
                  <a:pt x="3810000" y="1905000"/>
                </a:lnTo>
                <a:lnTo>
                  <a:pt x="3363119" y="2351881"/>
                </a:lnTo>
                <a:lnTo>
                  <a:pt x="446881" y="2351881"/>
                </a:lnTo>
                <a:lnTo>
                  <a:pt x="0" y="1905000"/>
                </a:lnTo>
                <a:close/>
              </a:path>
            </a:pathLst>
          </a:cu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77" name="文本框 15"/>
          <p:cNvSpPr txBox="1"/>
          <p:nvPr/>
        </p:nvSpPr>
        <p:spPr>
          <a:xfrm>
            <a:off x="3277235" y="3308985"/>
            <a:ext cx="10226675" cy="706755"/>
          </a:xfrm>
          <a:prstGeom prst="rect">
            <a:avLst/>
          </a:prstGeom>
          <a:noFill/>
          <a:ln w="9525">
            <a:noFill/>
          </a:ln>
        </p:spPr>
        <p:txBody>
          <a:bodyPr wrap="square">
            <a:spAutoFit/>
          </a:bodyPr>
          <a:lstStyle/>
          <a:p>
            <a:pPr eaLnBrk="1" hangingPunct="1"/>
            <a:r>
              <a:rPr lang="en-US" sz="4000" b="1" dirty="0">
                <a:solidFill>
                  <a:schemeClr val="bg1"/>
                </a:solidFill>
                <a:latin typeface="Microsoft YaHei" panose="020B0503020204020204" pitchFamily="34" charset="-122"/>
                <a:ea typeface="Microsoft YaHei" panose="020B0503020204020204" pitchFamily="34" charset="-122"/>
              </a:rPr>
              <a:t>Detect Qualified Leads USE-CASE</a:t>
            </a:r>
            <a:endParaRPr lang="en-US" sz="4000" b="1" dirty="0">
              <a:solidFill>
                <a:schemeClr val="bg1"/>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5650" y="1270"/>
            <a:ext cx="6581140" cy="68567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099" name="组合 2"/>
          <p:cNvGrpSpPr/>
          <p:nvPr/>
        </p:nvGrpSpPr>
        <p:grpSpPr>
          <a:xfrm>
            <a:off x="-512762" y="-1385887"/>
            <a:ext cx="4752975" cy="7405687"/>
            <a:chOff x="-1905000" y="-552450"/>
            <a:chExt cx="6813550" cy="10617901"/>
          </a:xfrm>
        </p:grpSpPr>
        <p:sp>
          <p:nvSpPr>
            <p:cNvPr id="14" name="菱形 13"/>
            <p:cNvSpPr/>
            <p:nvPr/>
          </p:nvSpPr>
          <p:spPr>
            <a:xfrm>
              <a:off x="746125" y="-552450"/>
              <a:ext cx="4162425" cy="4162425"/>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菱形 27"/>
            <p:cNvSpPr/>
            <p:nvPr/>
          </p:nvSpPr>
          <p:spPr>
            <a:xfrm>
              <a:off x="-1905000" y="2154238"/>
              <a:ext cx="3810000" cy="38100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菱形 28"/>
            <p:cNvSpPr/>
            <p:nvPr/>
          </p:nvSpPr>
          <p:spPr>
            <a:xfrm>
              <a:off x="746125" y="5111784"/>
              <a:ext cx="3810000" cy="3810001"/>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菱形 9"/>
            <p:cNvSpPr/>
            <p:nvPr/>
          </p:nvSpPr>
          <p:spPr>
            <a:xfrm>
              <a:off x="-1240090" y="7768654"/>
              <a:ext cx="2296797" cy="2296797"/>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4101" name="文本框 12"/>
          <p:cNvSpPr txBox="1"/>
          <p:nvPr/>
        </p:nvSpPr>
        <p:spPr>
          <a:xfrm>
            <a:off x="5280978" y="244793"/>
            <a:ext cx="1722437" cy="461962"/>
          </a:xfrm>
          <a:prstGeom prst="rect">
            <a:avLst/>
          </a:prstGeom>
          <a:noFill/>
          <a:ln w="9525">
            <a:noFill/>
          </a:ln>
        </p:spPr>
        <p:txBody>
          <a:bodyPr wrap="none">
            <a:spAutoFit/>
          </a:bodyPr>
          <a:lstStyle/>
          <a:p>
            <a:pPr eaLnBrk="1" hangingPunct="1"/>
            <a:r>
              <a:rPr lang="en-US" altLang="zh-CN" sz="2400" dirty="0">
                <a:solidFill>
                  <a:srgbClr val="00B8BA"/>
                </a:solidFill>
                <a:latin typeface="Microsoft YaHei" panose="020B0503020204020204" pitchFamily="34" charset="-122"/>
                <a:ea typeface="Microsoft YaHei" panose="020B0503020204020204" pitchFamily="34" charset="-122"/>
              </a:rPr>
              <a:t>CONTENT</a:t>
            </a:r>
            <a:endParaRPr lang="en-US" altLang="zh-CN" sz="2400" dirty="0">
              <a:solidFill>
                <a:srgbClr val="00B8BA"/>
              </a:solidFill>
              <a:latin typeface="Microsoft YaHei" panose="020B0503020204020204" pitchFamily="34" charset="-122"/>
              <a:ea typeface="Microsoft YaHei" panose="020B0503020204020204" pitchFamily="34" charset="-122"/>
            </a:endParaRPr>
          </a:p>
        </p:txBody>
      </p:sp>
      <p:sp>
        <p:nvSpPr>
          <p:cNvPr id="4102" name="文本框 4"/>
          <p:cNvSpPr txBox="1"/>
          <p:nvPr/>
        </p:nvSpPr>
        <p:spPr>
          <a:xfrm>
            <a:off x="4547235" y="962978"/>
            <a:ext cx="2515870" cy="460375"/>
          </a:xfrm>
          <a:prstGeom prst="rect">
            <a:avLst/>
          </a:prstGeom>
          <a:noFill/>
          <a:ln w="9525">
            <a:noFill/>
          </a:ln>
        </p:spPr>
        <p:txBody>
          <a:bodyPr wrap="none">
            <a:spAutoFit/>
          </a:bodyPr>
          <a:lstStyle/>
          <a:p>
            <a:pPr eaLnBrk="1" hangingPunct="1"/>
            <a:r>
              <a:rPr lang="en-US" altLang="zh-CN" sz="2400" dirty="0">
                <a:solidFill>
                  <a:srgbClr val="00B8BA"/>
                </a:solidFill>
                <a:latin typeface="Calibri" panose="020F0502020204030204" pitchFamily="34" charset="0"/>
              </a:rPr>
              <a:t>1. </a:t>
            </a:r>
            <a:r>
              <a:rPr lang="zh-CN" altLang="en-US" sz="2400" dirty="0">
                <a:solidFill>
                  <a:srgbClr val="00B8BA"/>
                </a:solidFill>
                <a:latin typeface="Microsoft YaHei" panose="020B0503020204020204" pitchFamily="34" charset="-122"/>
                <a:ea typeface="Microsoft YaHei" panose="020B0503020204020204" pitchFamily="34" charset="-122"/>
              </a:rPr>
              <a:t> </a:t>
            </a:r>
            <a:r>
              <a:rPr lang="en-US" sz="2400" dirty="0">
                <a:solidFill>
                  <a:srgbClr val="00B8BA"/>
                </a:solidFill>
                <a:latin typeface="Microsoft YaHei" panose="020B0503020204020204" pitchFamily="34" charset="-122"/>
                <a:ea typeface="Microsoft YaHei" panose="020B0503020204020204" pitchFamily="34" charset="-122"/>
              </a:rPr>
              <a:t>The Problem </a:t>
            </a:r>
            <a:endParaRPr lang="en-US" sz="2400" dirty="0">
              <a:solidFill>
                <a:srgbClr val="00B8BA"/>
              </a:solidFill>
              <a:latin typeface="Microsoft YaHei" panose="020B0503020204020204" pitchFamily="34" charset="-122"/>
              <a:ea typeface="Microsoft YaHei" panose="020B0503020204020204" pitchFamily="34" charset="-122"/>
            </a:endParaRPr>
          </a:p>
        </p:txBody>
      </p:sp>
      <p:sp>
        <p:nvSpPr>
          <p:cNvPr id="4103" name="文本框 14"/>
          <p:cNvSpPr txBox="1"/>
          <p:nvPr/>
        </p:nvSpPr>
        <p:spPr>
          <a:xfrm>
            <a:off x="4555490" y="1423353"/>
            <a:ext cx="2989580" cy="521970"/>
          </a:xfrm>
          <a:prstGeom prst="rect">
            <a:avLst/>
          </a:prstGeom>
          <a:noFill/>
          <a:ln w="9525">
            <a:noFill/>
          </a:ln>
        </p:spPr>
        <p:txBody>
          <a:bodyPr wrap="none">
            <a:spAutoFit/>
          </a:bodyPr>
          <a:lstStyle/>
          <a:p>
            <a:pPr eaLnBrk="1" hangingPunct="1"/>
            <a:r>
              <a:rPr lang="en-US" altLang="zh-CN" sz="2800" dirty="0">
                <a:solidFill>
                  <a:srgbClr val="00B8BA"/>
                </a:solidFill>
                <a:latin typeface="Calibri" panose="020F0502020204030204" pitchFamily="34" charset="0"/>
              </a:rPr>
              <a:t>2. </a:t>
            </a:r>
            <a:r>
              <a:rPr lang="en-US" altLang="zh-CN" sz="2400" dirty="0">
                <a:solidFill>
                  <a:srgbClr val="00B8BA"/>
                </a:solidFill>
                <a:latin typeface="Microsoft YaHei" panose="020B0503020204020204" pitchFamily="34" charset="-122"/>
                <a:ea typeface="Microsoft YaHei" panose="020B0503020204020204" pitchFamily="34" charset="-122"/>
              </a:rPr>
              <a:t>Data Dectionary </a:t>
            </a:r>
            <a:endParaRPr lang="en-US" altLang="zh-CN" sz="2400" dirty="0">
              <a:solidFill>
                <a:srgbClr val="00B8BA"/>
              </a:solidFill>
              <a:latin typeface="Microsoft YaHei" panose="020B0503020204020204" pitchFamily="34" charset="-122"/>
              <a:ea typeface="Microsoft YaHei" panose="020B0503020204020204" pitchFamily="34" charset="-122"/>
            </a:endParaRPr>
          </a:p>
        </p:txBody>
      </p:sp>
      <p:sp>
        <p:nvSpPr>
          <p:cNvPr id="4104" name="文本框 16"/>
          <p:cNvSpPr txBox="1"/>
          <p:nvPr/>
        </p:nvSpPr>
        <p:spPr>
          <a:xfrm>
            <a:off x="4555490" y="1920240"/>
            <a:ext cx="4060825" cy="460375"/>
          </a:xfrm>
          <a:prstGeom prst="rect">
            <a:avLst/>
          </a:prstGeom>
          <a:noFill/>
          <a:ln w="9525">
            <a:noFill/>
          </a:ln>
        </p:spPr>
        <p:txBody>
          <a:bodyPr wrap="none">
            <a:spAutoFit/>
          </a:bodyPr>
          <a:lstStyle/>
          <a:p>
            <a:pPr eaLnBrk="1" hangingPunct="1"/>
            <a:r>
              <a:rPr lang="en-US" altLang="zh-CN" sz="2400" dirty="0">
                <a:solidFill>
                  <a:srgbClr val="00B8BA"/>
                </a:solidFill>
                <a:latin typeface="Calibri" panose="020F0502020204030204" pitchFamily="34" charset="0"/>
              </a:rPr>
              <a:t>3. </a:t>
            </a:r>
            <a:r>
              <a:rPr lang="zh-CN" altLang="en-US" sz="2400" dirty="0">
                <a:solidFill>
                  <a:srgbClr val="00B8BA"/>
                </a:solidFill>
                <a:latin typeface="Microsoft YaHei" panose="020B0503020204020204" pitchFamily="34" charset="-122"/>
                <a:ea typeface="Microsoft YaHei" panose="020B0503020204020204" pitchFamily="34" charset="-122"/>
              </a:rPr>
              <a:t>Products and operations</a:t>
            </a:r>
            <a:endParaRPr lang="zh-CN" altLang="en-US" sz="2400" dirty="0">
              <a:solidFill>
                <a:srgbClr val="00B8BA"/>
              </a:solidFill>
              <a:latin typeface="Microsoft YaHei" panose="020B0503020204020204" pitchFamily="34" charset="-122"/>
              <a:ea typeface="Microsoft YaHei" panose="020B0503020204020204" pitchFamily="34" charset="-122"/>
            </a:endParaRPr>
          </a:p>
        </p:txBody>
      </p:sp>
      <p:sp>
        <p:nvSpPr>
          <p:cNvPr id="4105" name="文本框 17"/>
          <p:cNvSpPr txBox="1"/>
          <p:nvPr/>
        </p:nvSpPr>
        <p:spPr>
          <a:xfrm>
            <a:off x="4555173" y="2380615"/>
            <a:ext cx="3542030" cy="460375"/>
          </a:xfrm>
          <a:prstGeom prst="rect">
            <a:avLst/>
          </a:prstGeom>
          <a:noFill/>
          <a:ln w="9525">
            <a:noFill/>
          </a:ln>
        </p:spPr>
        <p:txBody>
          <a:bodyPr wrap="none">
            <a:spAutoFit/>
          </a:bodyPr>
          <a:lstStyle/>
          <a:p>
            <a:pPr algn="just" eaLnBrk="1" hangingPunct="1"/>
            <a:r>
              <a:rPr lang="en-US" altLang="zh-CN" sz="2400" dirty="0">
                <a:solidFill>
                  <a:srgbClr val="00B8BA"/>
                </a:solidFill>
                <a:latin typeface="Calibri" panose="020F0502020204030204" pitchFamily="34" charset="0"/>
              </a:rPr>
              <a:t>4. </a:t>
            </a:r>
            <a:r>
              <a:rPr lang="en-US" altLang="zh-CN" sz="2400" dirty="0">
                <a:solidFill>
                  <a:srgbClr val="00B8BA"/>
                </a:solidFill>
                <a:latin typeface="Microsoft YaHei" panose="020B0503020204020204" pitchFamily="34" charset="-122"/>
                <a:ea typeface="Microsoft YaHei" panose="020B0503020204020204" pitchFamily="34" charset="-122"/>
              </a:rPr>
              <a:t>Data Summarization</a:t>
            </a:r>
            <a:r>
              <a:rPr lang="zh-CN" altLang="en-US" sz="2400" dirty="0">
                <a:solidFill>
                  <a:srgbClr val="00B8BA"/>
                </a:solidFill>
                <a:latin typeface="Microsoft YaHei" panose="020B0503020204020204" pitchFamily="34" charset="-122"/>
                <a:ea typeface="Microsoft YaHei" panose="020B0503020204020204" pitchFamily="34" charset="-122"/>
              </a:rPr>
              <a:t> </a:t>
            </a:r>
            <a:endParaRPr lang="zh-CN" altLang="en-US" sz="2400" dirty="0">
              <a:solidFill>
                <a:srgbClr val="00B8BA"/>
              </a:solidFill>
              <a:latin typeface="Microsoft YaHei" panose="020B0503020204020204" pitchFamily="34" charset="-122"/>
              <a:ea typeface="Microsoft YaHei" panose="020B0503020204020204" pitchFamily="34" charset="-122"/>
            </a:endParaRPr>
          </a:p>
        </p:txBody>
      </p:sp>
      <p:sp>
        <p:nvSpPr>
          <p:cNvPr id="3" name="文本框 17"/>
          <p:cNvSpPr txBox="1"/>
          <p:nvPr/>
        </p:nvSpPr>
        <p:spPr>
          <a:xfrm>
            <a:off x="4556125" y="2877185"/>
            <a:ext cx="3173095" cy="460375"/>
          </a:xfrm>
          <a:prstGeom prst="rect">
            <a:avLst/>
          </a:prstGeom>
          <a:noFill/>
          <a:ln w="9525">
            <a:noFill/>
          </a:ln>
        </p:spPr>
        <p:txBody>
          <a:bodyPr wrap="none">
            <a:spAutoFit/>
          </a:bodyPr>
          <a:p>
            <a:pPr algn="just" eaLnBrk="1" hangingPunct="1"/>
            <a:r>
              <a:rPr lang="en-US" altLang="zh-CN" sz="2400" dirty="0">
                <a:solidFill>
                  <a:srgbClr val="00B8BA"/>
                </a:solidFill>
                <a:latin typeface="Calibri" panose="020F0502020204030204" pitchFamily="34" charset="0"/>
              </a:rPr>
              <a:t>5. </a:t>
            </a:r>
            <a:r>
              <a:rPr lang="en-US" altLang="zh-CN" sz="2400" dirty="0">
                <a:solidFill>
                  <a:srgbClr val="00B8BA"/>
                </a:solidFill>
                <a:latin typeface="Microsoft YaHei" panose="020B0503020204020204" pitchFamily="34" charset="-122"/>
                <a:ea typeface="Microsoft YaHei" panose="020B0503020204020204" pitchFamily="34" charset="-122"/>
              </a:rPr>
              <a:t>Missing Values     </a:t>
            </a:r>
            <a:r>
              <a:rPr lang="zh-CN" altLang="en-US" sz="2400" dirty="0">
                <a:solidFill>
                  <a:srgbClr val="00B8BA"/>
                </a:solidFill>
                <a:latin typeface="Microsoft YaHei" panose="020B0503020204020204" pitchFamily="34" charset="-122"/>
                <a:ea typeface="Microsoft YaHei" panose="020B0503020204020204" pitchFamily="34" charset="-122"/>
              </a:rPr>
              <a:t> </a:t>
            </a:r>
            <a:endParaRPr lang="zh-CN" altLang="en-US" sz="2400" dirty="0">
              <a:solidFill>
                <a:srgbClr val="00B8BA"/>
              </a:solidFill>
              <a:latin typeface="Microsoft YaHei" panose="020B0503020204020204" pitchFamily="34" charset="-122"/>
              <a:ea typeface="Microsoft YaHei" panose="020B0503020204020204" pitchFamily="34" charset="-122"/>
            </a:endParaRPr>
          </a:p>
        </p:txBody>
      </p:sp>
      <p:sp>
        <p:nvSpPr>
          <p:cNvPr id="4" name="文本框 17"/>
          <p:cNvSpPr txBox="1"/>
          <p:nvPr/>
        </p:nvSpPr>
        <p:spPr>
          <a:xfrm>
            <a:off x="4546918" y="3321685"/>
            <a:ext cx="4442460" cy="460375"/>
          </a:xfrm>
          <a:prstGeom prst="rect">
            <a:avLst/>
          </a:prstGeom>
          <a:noFill/>
          <a:ln w="9525">
            <a:noFill/>
          </a:ln>
        </p:spPr>
        <p:txBody>
          <a:bodyPr wrap="none">
            <a:spAutoFit/>
          </a:bodyPr>
          <a:lstStyle/>
          <a:p>
            <a:pPr algn="just" eaLnBrk="1" hangingPunct="1"/>
            <a:r>
              <a:rPr lang="en-US" altLang="zh-CN" sz="2400" dirty="0">
                <a:solidFill>
                  <a:srgbClr val="00B8BA"/>
                </a:solidFill>
                <a:latin typeface="Calibri" panose="020F0502020204030204" pitchFamily="34" charset="0"/>
              </a:rPr>
              <a:t>6. </a:t>
            </a:r>
            <a:r>
              <a:rPr lang="en-US" altLang="zh-CN" sz="2400" dirty="0">
                <a:solidFill>
                  <a:srgbClr val="00B8BA"/>
                </a:solidFill>
                <a:latin typeface="Microsoft YaHei" panose="020B0503020204020204" pitchFamily="34" charset="-122"/>
                <a:ea typeface="Microsoft YaHei" panose="020B0503020204020204" pitchFamily="34" charset="-122"/>
              </a:rPr>
              <a:t>Encoding Categorical Data</a:t>
            </a:r>
            <a:r>
              <a:rPr lang="zh-CN" altLang="en-US" sz="2400" dirty="0">
                <a:solidFill>
                  <a:srgbClr val="00B8BA"/>
                </a:solidFill>
                <a:latin typeface="Microsoft YaHei" panose="020B0503020204020204" pitchFamily="34" charset="-122"/>
                <a:ea typeface="Microsoft YaHei" panose="020B0503020204020204" pitchFamily="34" charset="-122"/>
              </a:rPr>
              <a:t> </a:t>
            </a:r>
            <a:endParaRPr lang="zh-CN" altLang="en-US" sz="2400" dirty="0">
              <a:solidFill>
                <a:srgbClr val="00B8BA"/>
              </a:solidFill>
              <a:latin typeface="Microsoft YaHei" panose="020B0503020204020204" pitchFamily="34" charset="-122"/>
              <a:ea typeface="Microsoft YaHei" panose="020B0503020204020204" pitchFamily="34" charset="-122"/>
            </a:endParaRPr>
          </a:p>
        </p:txBody>
      </p:sp>
      <p:sp>
        <p:nvSpPr>
          <p:cNvPr id="5" name="文本框 17"/>
          <p:cNvSpPr txBox="1"/>
          <p:nvPr/>
        </p:nvSpPr>
        <p:spPr>
          <a:xfrm>
            <a:off x="4556125" y="4262755"/>
            <a:ext cx="3549015" cy="521970"/>
          </a:xfrm>
          <a:prstGeom prst="rect">
            <a:avLst/>
          </a:prstGeom>
          <a:noFill/>
          <a:ln w="9525">
            <a:noFill/>
          </a:ln>
        </p:spPr>
        <p:txBody>
          <a:bodyPr wrap="none">
            <a:spAutoFit/>
          </a:bodyPr>
          <a:lstStyle/>
          <a:p>
            <a:pPr algn="just" eaLnBrk="1" hangingPunct="1"/>
            <a:r>
              <a:rPr lang="en-US" altLang="zh-CN" sz="2800" dirty="0">
                <a:solidFill>
                  <a:srgbClr val="00B8BA"/>
                </a:solidFill>
                <a:latin typeface="Calibri" panose="020F0502020204030204" pitchFamily="34" charset="0"/>
              </a:rPr>
              <a:t>8. Remove Duplicates  </a:t>
            </a:r>
            <a:r>
              <a:rPr lang="zh-CN" altLang="en-US" sz="2800" dirty="0">
                <a:solidFill>
                  <a:srgbClr val="00B8BA"/>
                </a:solidFill>
                <a:latin typeface="Microsoft YaHei" panose="020B0503020204020204" pitchFamily="34" charset="-122"/>
                <a:ea typeface="Microsoft YaHei" panose="020B0503020204020204" pitchFamily="34" charset="-122"/>
              </a:rPr>
              <a:t> </a:t>
            </a:r>
            <a:endParaRPr lang="zh-CN" altLang="en-US" sz="2800" dirty="0">
              <a:solidFill>
                <a:srgbClr val="00B8BA"/>
              </a:solidFill>
              <a:latin typeface="Microsoft YaHei" panose="020B0503020204020204" pitchFamily="34" charset="-122"/>
              <a:ea typeface="Microsoft YaHei" panose="020B0503020204020204" pitchFamily="34" charset="-122"/>
            </a:endParaRPr>
          </a:p>
        </p:txBody>
      </p:sp>
      <p:sp>
        <p:nvSpPr>
          <p:cNvPr id="6" name="文本框 17"/>
          <p:cNvSpPr txBox="1"/>
          <p:nvPr/>
        </p:nvSpPr>
        <p:spPr>
          <a:xfrm>
            <a:off x="4556125" y="3797935"/>
            <a:ext cx="4065905" cy="460375"/>
          </a:xfrm>
          <a:prstGeom prst="rect">
            <a:avLst/>
          </a:prstGeom>
          <a:noFill/>
          <a:ln w="9525">
            <a:noFill/>
          </a:ln>
        </p:spPr>
        <p:txBody>
          <a:bodyPr wrap="none">
            <a:spAutoFit/>
          </a:bodyPr>
          <a:lstStyle/>
          <a:p>
            <a:pPr algn="just" eaLnBrk="1" hangingPunct="1"/>
            <a:r>
              <a:rPr lang="en-US" altLang="zh-CN" sz="2400" dirty="0">
                <a:solidFill>
                  <a:srgbClr val="00B8BA"/>
                </a:solidFill>
                <a:latin typeface="Calibri" panose="020F0502020204030204" pitchFamily="34" charset="0"/>
              </a:rPr>
              <a:t>7. </a:t>
            </a:r>
            <a:r>
              <a:rPr lang="en-US" altLang="zh-CN" sz="2400" dirty="0">
                <a:solidFill>
                  <a:srgbClr val="00B8BA"/>
                </a:solidFill>
                <a:latin typeface="Microsoft YaHei" panose="020B0503020204020204" pitchFamily="34" charset="-122"/>
                <a:ea typeface="Microsoft YaHei" panose="020B0503020204020204" pitchFamily="34" charset="-122"/>
              </a:rPr>
              <a:t>Emputing Missing Data </a:t>
            </a:r>
            <a:r>
              <a:rPr lang="zh-CN" altLang="en-US" sz="2400" dirty="0">
                <a:solidFill>
                  <a:srgbClr val="00B8BA"/>
                </a:solidFill>
                <a:latin typeface="Microsoft YaHei" panose="020B0503020204020204" pitchFamily="34" charset="-122"/>
                <a:ea typeface="Microsoft YaHei" panose="020B0503020204020204" pitchFamily="34" charset="-122"/>
              </a:rPr>
              <a:t> </a:t>
            </a:r>
            <a:endParaRPr lang="zh-CN" altLang="en-US" sz="2400" dirty="0">
              <a:solidFill>
                <a:srgbClr val="00B8BA"/>
              </a:solidFill>
              <a:latin typeface="Microsoft YaHei" panose="020B0503020204020204" pitchFamily="34" charset="-122"/>
              <a:ea typeface="Microsoft YaHei" panose="020B0503020204020204" pitchFamily="34" charset="-122"/>
            </a:endParaRPr>
          </a:p>
        </p:txBody>
      </p:sp>
      <p:sp>
        <p:nvSpPr>
          <p:cNvPr id="7" name="文本框 17"/>
          <p:cNvSpPr txBox="1"/>
          <p:nvPr/>
        </p:nvSpPr>
        <p:spPr>
          <a:xfrm>
            <a:off x="4606925" y="4723130"/>
            <a:ext cx="3447415" cy="521970"/>
          </a:xfrm>
          <a:prstGeom prst="rect">
            <a:avLst/>
          </a:prstGeom>
          <a:noFill/>
          <a:ln w="9525">
            <a:noFill/>
          </a:ln>
        </p:spPr>
        <p:txBody>
          <a:bodyPr wrap="none">
            <a:spAutoFit/>
          </a:bodyPr>
          <a:p>
            <a:pPr algn="just" eaLnBrk="1" hangingPunct="1"/>
            <a:r>
              <a:rPr lang="en-US" altLang="zh-CN" sz="2800" dirty="0">
                <a:solidFill>
                  <a:srgbClr val="00B8BA"/>
                </a:solidFill>
                <a:latin typeface="Calibri" panose="020F0502020204030204" pitchFamily="34" charset="0"/>
              </a:rPr>
              <a:t>9. Handle Outliers       </a:t>
            </a:r>
            <a:r>
              <a:rPr lang="zh-CN" altLang="en-US" sz="2800" dirty="0">
                <a:solidFill>
                  <a:srgbClr val="00B8BA"/>
                </a:solidFill>
                <a:latin typeface="Microsoft YaHei" panose="020B0503020204020204" pitchFamily="34" charset="-122"/>
                <a:ea typeface="Microsoft YaHei" panose="020B0503020204020204" pitchFamily="34" charset="-122"/>
              </a:rPr>
              <a:t> </a:t>
            </a:r>
            <a:endParaRPr lang="zh-CN" altLang="en-US" sz="2800" dirty="0">
              <a:solidFill>
                <a:srgbClr val="00B8BA"/>
              </a:solidFill>
              <a:latin typeface="Microsoft YaHei" panose="020B0503020204020204" pitchFamily="34" charset="-122"/>
              <a:ea typeface="Microsoft YaHei" panose="020B0503020204020204" pitchFamily="34" charset="-122"/>
            </a:endParaRPr>
          </a:p>
        </p:txBody>
      </p:sp>
      <p:sp>
        <p:nvSpPr>
          <p:cNvPr id="8" name="文本框 17"/>
          <p:cNvSpPr txBox="1"/>
          <p:nvPr/>
        </p:nvSpPr>
        <p:spPr>
          <a:xfrm>
            <a:off x="4444683" y="5158105"/>
            <a:ext cx="3873500" cy="521970"/>
          </a:xfrm>
          <a:prstGeom prst="rect">
            <a:avLst/>
          </a:prstGeom>
          <a:noFill/>
          <a:ln w="9525">
            <a:noFill/>
          </a:ln>
        </p:spPr>
        <p:txBody>
          <a:bodyPr wrap="none">
            <a:spAutoFit/>
          </a:bodyPr>
          <a:p>
            <a:pPr algn="just" eaLnBrk="1" hangingPunct="1"/>
            <a:r>
              <a:rPr lang="en-US" altLang="zh-CN" sz="2800" dirty="0">
                <a:solidFill>
                  <a:srgbClr val="00B8BA"/>
                </a:solidFill>
                <a:latin typeface="Calibri" panose="020F0502020204030204" pitchFamily="34" charset="0"/>
              </a:rPr>
              <a:t> 10. Data Visualization     </a:t>
            </a:r>
            <a:r>
              <a:rPr lang="zh-CN" altLang="en-US" sz="2800" dirty="0">
                <a:solidFill>
                  <a:srgbClr val="00B8BA"/>
                </a:solidFill>
                <a:latin typeface="Microsoft YaHei" panose="020B0503020204020204" pitchFamily="34" charset="-122"/>
                <a:ea typeface="Microsoft YaHei" panose="020B0503020204020204" pitchFamily="34" charset="-122"/>
              </a:rPr>
              <a:t> </a:t>
            </a:r>
            <a:endParaRPr lang="zh-CN" altLang="en-US" sz="2800" dirty="0">
              <a:solidFill>
                <a:srgbClr val="00B8BA"/>
              </a:solidFill>
              <a:latin typeface="Microsoft YaHei" panose="020B0503020204020204" pitchFamily="34" charset="-122"/>
              <a:ea typeface="Microsoft YaHei" panose="020B0503020204020204" pitchFamily="34" charset="-122"/>
            </a:endParaRPr>
          </a:p>
        </p:txBody>
      </p:sp>
      <p:sp>
        <p:nvSpPr>
          <p:cNvPr id="9" name="文本框 17"/>
          <p:cNvSpPr txBox="1"/>
          <p:nvPr/>
        </p:nvSpPr>
        <p:spPr>
          <a:xfrm>
            <a:off x="4444683" y="5675630"/>
            <a:ext cx="5223510" cy="521970"/>
          </a:xfrm>
          <a:prstGeom prst="rect">
            <a:avLst/>
          </a:prstGeom>
          <a:noFill/>
          <a:ln w="9525">
            <a:noFill/>
          </a:ln>
        </p:spPr>
        <p:txBody>
          <a:bodyPr wrap="none">
            <a:spAutoFit/>
          </a:bodyPr>
          <a:p>
            <a:pPr algn="just" eaLnBrk="1" hangingPunct="1"/>
            <a:r>
              <a:rPr lang="en-US" altLang="zh-CN" sz="2800" dirty="0">
                <a:solidFill>
                  <a:srgbClr val="00B8BA"/>
                </a:solidFill>
                <a:latin typeface="Calibri" panose="020F0502020204030204" pitchFamily="34" charset="0"/>
              </a:rPr>
              <a:t> 11 . Handling Unbalanced Data     </a:t>
            </a:r>
            <a:r>
              <a:rPr lang="zh-CN" altLang="en-US" sz="2800" dirty="0">
                <a:solidFill>
                  <a:srgbClr val="00B8BA"/>
                </a:solidFill>
                <a:latin typeface="Microsoft YaHei" panose="020B0503020204020204" pitchFamily="34" charset="-122"/>
                <a:ea typeface="Microsoft YaHei" panose="020B0503020204020204" pitchFamily="34" charset="-122"/>
              </a:rPr>
              <a:t> </a:t>
            </a:r>
            <a:endParaRPr lang="zh-CN" altLang="en-US" sz="2800" dirty="0">
              <a:solidFill>
                <a:srgbClr val="00B8BA"/>
              </a:solidFill>
              <a:latin typeface="Microsoft YaHei" panose="020B0503020204020204" pitchFamily="34" charset="-122"/>
              <a:ea typeface="Microsoft YaHei" panose="020B0503020204020204" pitchFamily="34" charset="-122"/>
            </a:endParaRPr>
          </a:p>
        </p:txBody>
      </p:sp>
      <p:sp>
        <p:nvSpPr>
          <p:cNvPr id="11" name="文本框 17"/>
          <p:cNvSpPr txBox="1"/>
          <p:nvPr/>
        </p:nvSpPr>
        <p:spPr>
          <a:xfrm>
            <a:off x="4498658" y="6206490"/>
            <a:ext cx="5337810" cy="521970"/>
          </a:xfrm>
          <a:prstGeom prst="rect">
            <a:avLst/>
          </a:prstGeom>
          <a:noFill/>
          <a:ln w="9525">
            <a:noFill/>
          </a:ln>
        </p:spPr>
        <p:txBody>
          <a:bodyPr wrap="none">
            <a:spAutoFit/>
          </a:bodyPr>
          <a:p>
            <a:pPr algn="just" eaLnBrk="1" hangingPunct="1"/>
            <a:r>
              <a:rPr lang="en-US" altLang="zh-CN" sz="2800" dirty="0">
                <a:solidFill>
                  <a:srgbClr val="00B8BA"/>
                </a:solidFill>
                <a:latin typeface="Calibri" panose="020F0502020204030204" pitchFamily="34" charset="0"/>
              </a:rPr>
              <a:t> 12 . Next Steps                                   </a:t>
            </a:r>
            <a:r>
              <a:rPr lang="zh-CN" altLang="en-US" sz="2800" dirty="0">
                <a:solidFill>
                  <a:srgbClr val="00B8BA"/>
                </a:solidFill>
                <a:latin typeface="Microsoft YaHei" panose="020B0503020204020204" pitchFamily="34" charset="-122"/>
                <a:ea typeface="Microsoft YaHei" panose="020B0503020204020204" pitchFamily="34" charset="-122"/>
              </a:rPr>
              <a:t> </a:t>
            </a:r>
            <a:endParaRPr lang="zh-CN" altLang="en-US" sz="2800" dirty="0">
              <a:solidFill>
                <a:srgbClr val="00B8BA"/>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563" y="273050"/>
            <a:ext cx="226060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413" name="文本框 7"/>
          <p:cNvSpPr txBox="1"/>
          <p:nvPr/>
        </p:nvSpPr>
        <p:spPr>
          <a:xfrm>
            <a:off x="1185863" y="304800"/>
            <a:ext cx="110172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Problem</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9" name="矩形 8"/>
          <p:cNvSpPr/>
          <p:nvPr/>
        </p:nvSpPr>
        <p:spPr>
          <a:xfrm>
            <a:off x="0" y="2365375"/>
            <a:ext cx="12192000" cy="269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417" name="矩形 14"/>
          <p:cNvSpPr/>
          <p:nvPr/>
        </p:nvSpPr>
        <p:spPr>
          <a:xfrm>
            <a:off x="909955" y="3051810"/>
            <a:ext cx="8646160" cy="1060450"/>
          </a:xfrm>
          <a:prstGeom prst="rect">
            <a:avLst/>
          </a:prstGeom>
          <a:noFill/>
          <a:ln w="9525">
            <a:noFill/>
          </a:ln>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stStyle>
          <a:p>
            <a:pPr marL="0" lvl="0" indent="0">
              <a:lnSpc>
                <a:spcPct val="150000"/>
              </a:lnSpc>
              <a:spcBef>
                <a:spcPct val="0"/>
              </a:spcBef>
              <a:buNone/>
            </a:pPr>
            <a:r>
              <a:rPr lang="zh-CN" altLang="en-US" sz="1400" dirty="0">
                <a:solidFill>
                  <a:srgbClr val="00B8BA"/>
                </a:solidFill>
                <a:latin typeface="Microsoft YaHei" panose="020B0503020204020204" pitchFamily="34" charset="-122"/>
                <a:ea typeface="Microsoft YaHei" panose="020B0503020204020204" pitchFamily="34" charset="-122"/>
              </a:rPr>
              <a:t>In Nawy we are initiating targeting campaigns on a daily basis to generate Real estate leads.</a:t>
            </a:r>
            <a:endParaRPr lang="zh-CN" altLang="en-US" sz="1400" dirty="0">
              <a:solidFill>
                <a:srgbClr val="00B8BA"/>
              </a:solidFill>
              <a:latin typeface="Microsoft YaHei" panose="020B0503020204020204" pitchFamily="34" charset="-122"/>
              <a:ea typeface="Microsoft YaHei" panose="020B0503020204020204" pitchFamily="34" charset="-122"/>
            </a:endParaRPr>
          </a:p>
          <a:p>
            <a:pPr marL="0" lvl="0" indent="0">
              <a:lnSpc>
                <a:spcPct val="150000"/>
              </a:lnSpc>
              <a:spcBef>
                <a:spcPct val="0"/>
              </a:spcBef>
              <a:buNone/>
            </a:pPr>
            <a:r>
              <a:rPr lang="zh-CN" altLang="en-US" sz="1400" dirty="0">
                <a:solidFill>
                  <a:srgbClr val="00B8BA"/>
                </a:solidFill>
                <a:latin typeface="Microsoft YaHei" panose="020B0503020204020204" pitchFamily="34" charset="-122"/>
                <a:ea typeface="Microsoft YaHei" panose="020B0503020204020204" pitchFamily="34" charset="-122"/>
              </a:rPr>
              <a:t>The main pain is generating qualified leads.So we need to build a model to classify the received</a:t>
            </a:r>
            <a:endParaRPr lang="zh-CN" altLang="en-US" sz="1400" dirty="0">
              <a:solidFill>
                <a:srgbClr val="00B8BA"/>
              </a:solidFill>
              <a:latin typeface="Microsoft YaHei" panose="020B0503020204020204" pitchFamily="34" charset="-122"/>
              <a:ea typeface="Microsoft YaHei" panose="020B0503020204020204" pitchFamily="34" charset="-122"/>
            </a:endParaRPr>
          </a:p>
          <a:p>
            <a:pPr marL="0" lvl="0" indent="0">
              <a:lnSpc>
                <a:spcPct val="150000"/>
              </a:lnSpc>
              <a:spcBef>
                <a:spcPct val="0"/>
              </a:spcBef>
              <a:buNone/>
            </a:pPr>
            <a:r>
              <a:rPr lang="zh-CN" altLang="en-US" sz="1400" dirty="0">
                <a:solidFill>
                  <a:srgbClr val="00B8BA"/>
                </a:solidFill>
                <a:latin typeface="Microsoft YaHei" panose="020B0503020204020204" pitchFamily="34" charset="-122"/>
                <a:ea typeface="Microsoft YaHei" panose="020B0503020204020204" pitchFamily="34" charset="-122"/>
              </a:rPr>
              <a:t>leads into two categories: low qualified and high qualified leads.</a:t>
            </a:r>
            <a:endParaRPr lang="zh-CN" altLang="en-US" sz="1400" dirty="0">
              <a:solidFill>
                <a:srgbClr val="00B8BA"/>
              </a:solidFill>
              <a:latin typeface="Microsoft YaHei" panose="020B0503020204020204" pitchFamily="34" charset="-122"/>
              <a:ea typeface="Microsoft YaHei" panose="020B0503020204020204" pitchFamily="34" charset="-122"/>
            </a:endParaRPr>
          </a:p>
        </p:txBody>
      </p:sp>
      <p:grpSp>
        <p:nvGrpSpPr>
          <p:cNvPr id="13" name="组合 15"/>
          <p:cNvGrpSpPr/>
          <p:nvPr/>
        </p:nvGrpSpPr>
        <p:grpSpPr bwMode="auto">
          <a:xfrm>
            <a:off x="1300163" y="1587499"/>
            <a:ext cx="1073150" cy="1073150"/>
            <a:chOff x="1300208" y="1305707"/>
            <a:chExt cx="1072388" cy="1072388"/>
          </a:xfrm>
          <a:solidFill>
            <a:srgbClr val="00B8BA"/>
          </a:solidFill>
        </p:grpSpPr>
        <p:sp>
          <p:nvSpPr>
            <p:cNvPr id="14" name="椭圆 13"/>
            <p:cNvSpPr/>
            <p:nvPr/>
          </p:nvSpPr>
          <p:spPr>
            <a:xfrm>
              <a:off x="1300208" y="1305707"/>
              <a:ext cx="1072388" cy="107238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5" name="图片 17"/>
            <p:cNvPicPr>
              <a:picLocks noChangeAspect="1"/>
            </p:cNvPicPr>
            <p:nvPr/>
          </p:nvPicPr>
          <p:blipFill>
            <a:blip r:embed="rId1">
              <a:extLst>
                <a:ext uri="{28A0092B-C50C-407E-A947-70E740481C1C}">
                  <a14:useLocalDpi xmlns:a14="http://schemas.microsoft.com/office/drawing/2010/main" val="0"/>
                </a:ext>
              </a:extLst>
            </a:blip>
            <a:srcRect l="44566" t="20280" r="29187" b="49121"/>
            <a:stretch>
              <a:fillRect/>
            </a:stretch>
          </p:blipFill>
          <p:spPr bwMode="auto">
            <a:xfrm>
              <a:off x="1513788" y="1472523"/>
              <a:ext cx="648072" cy="7200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563" y="273050"/>
            <a:ext cx="226060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850583" y="304800"/>
            <a:ext cx="195770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Data Dectionary</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2" name="Content Placeholder 1"/>
          <p:cNvPicPr>
            <a:picLocks noChangeAspect="1"/>
          </p:cNvPicPr>
          <p:nvPr>
            <p:ph idx="1"/>
          </p:nvPr>
        </p:nvPicPr>
        <p:blipFill>
          <a:blip r:embed="rId1"/>
          <a:stretch>
            <a:fillRect/>
          </a:stretch>
        </p:blipFill>
        <p:spPr>
          <a:xfrm>
            <a:off x="984885" y="1420495"/>
            <a:ext cx="10266045" cy="50996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563" y="273050"/>
            <a:ext cx="226060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850583" y="304800"/>
            <a:ext cx="138239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Data Types</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5" name="Rectangles 4"/>
          <p:cNvSpPr/>
          <p:nvPr/>
        </p:nvSpPr>
        <p:spPr>
          <a:xfrm>
            <a:off x="252730" y="2258695"/>
            <a:ext cx="4588510" cy="160020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endParaRPr lang="en-US" sz="2400"/>
          </a:p>
          <a:p>
            <a:pPr algn="ctr"/>
            <a:r>
              <a:rPr lang="en-US" sz="2400">
                <a:sym typeface="+mn-ea"/>
              </a:rPr>
              <a:t>It contains only categorical variables </a:t>
            </a:r>
            <a:endParaRPr lang="en-US" sz="2400"/>
          </a:p>
        </p:txBody>
      </p:sp>
      <p:pic>
        <p:nvPicPr>
          <p:cNvPr id="8" name="Content Placeholder 7"/>
          <p:cNvPicPr>
            <a:picLocks noChangeAspect="1"/>
          </p:cNvPicPr>
          <p:nvPr>
            <p:ph idx="1"/>
          </p:nvPr>
        </p:nvPicPr>
        <p:blipFill>
          <a:blip r:embed="rId1"/>
          <a:stretch>
            <a:fillRect/>
          </a:stretch>
        </p:blipFill>
        <p:spPr>
          <a:xfrm>
            <a:off x="5786755" y="636905"/>
            <a:ext cx="6080125" cy="55841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33832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5850" y="296545"/>
            <a:ext cx="2861310" cy="368300"/>
          </a:xfrm>
          <a:prstGeom prst="rect">
            <a:avLst/>
          </a:prstGeom>
          <a:noFill/>
          <a:ln w="9525">
            <a:noFill/>
          </a:ln>
        </p:spPr>
        <p:txBody>
          <a:bodyPr wrap="squar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Data Summarization</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5" name="Content Placeholder 4" descr="Capture2"/>
          <p:cNvPicPr>
            <a:picLocks noChangeAspect="1"/>
          </p:cNvPicPr>
          <p:nvPr>
            <p:ph idx="1"/>
          </p:nvPr>
        </p:nvPicPr>
        <p:blipFill>
          <a:blip r:embed="rId1"/>
          <a:stretch>
            <a:fillRect/>
          </a:stretch>
        </p:blipFill>
        <p:spPr>
          <a:xfrm>
            <a:off x="880745" y="1294765"/>
            <a:ext cx="10429875" cy="4763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563" y="273050"/>
            <a:ext cx="226060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850583" y="304800"/>
            <a:ext cx="179578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Missing Values</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5" name="Rectangles 4"/>
          <p:cNvSpPr/>
          <p:nvPr/>
        </p:nvSpPr>
        <p:spPr>
          <a:xfrm>
            <a:off x="461010" y="873125"/>
            <a:ext cx="4588510" cy="160020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en-US" sz="2400"/>
              <a:t>message , campaign , locaion ,ad_group , lead_mobile_network</a:t>
            </a:r>
            <a:endParaRPr lang="en-US" sz="2400"/>
          </a:p>
          <a:p>
            <a:pPr algn="ctr"/>
            <a:r>
              <a:rPr lang="en-US" sz="2400"/>
              <a:t>contains missing values </a:t>
            </a:r>
            <a:endParaRPr lang="en-US" sz="2400"/>
          </a:p>
        </p:txBody>
      </p:sp>
      <p:pic>
        <p:nvPicPr>
          <p:cNvPr id="3" name="Content Placeholder 2"/>
          <p:cNvPicPr>
            <a:picLocks noChangeAspect="1"/>
          </p:cNvPicPr>
          <p:nvPr>
            <p:ph idx="1"/>
          </p:nvPr>
        </p:nvPicPr>
        <p:blipFill>
          <a:blip r:embed="rId1"/>
          <a:stretch>
            <a:fillRect/>
          </a:stretch>
        </p:blipFill>
        <p:spPr>
          <a:xfrm>
            <a:off x="2103120" y="2641600"/>
            <a:ext cx="9545320" cy="40049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39801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37908" y="304800"/>
            <a:ext cx="303085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Encoding Categorical Vars</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5" name="Rectangles 4"/>
          <p:cNvSpPr/>
          <p:nvPr/>
        </p:nvSpPr>
        <p:spPr>
          <a:xfrm>
            <a:off x="1230630" y="1203325"/>
            <a:ext cx="6127115" cy="160020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t>Label Encoding:</a:t>
            </a:r>
            <a:endParaRPr lang="en-US" sz="2400"/>
          </a:p>
          <a:p>
            <a:pPr algn="ctr"/>
            <a:r>
              <a:rPr lang="en-US" sz="2400"/>
              <a:t>This approach is very simple and it involves converting each value in a column to a number. </a:t>
            </a:r>
            <a:endParaRPr lang="en-US" sz="2400"/>
          </a:p>
        </p:txBody>
      </p:sp>
      <p:pic>
        <p:nvPicPr>
          <p:cNvPr id="8" name="Content Placeholder 7"/>
          <p:cNvPicPr>
            <a:picLocks noChangeAspect="1"/>
          </p:cNvPicPr>
          <p:nvPr>
            <p:ph sz="half" idx="1"/>
          </p:nvPr>
        </p:nvPicPr>
        <p:blipFill>
          <a:blip r:embed="rId1"/>
          <a:stretch>
            <a:fillRect/>
          </a:stretch>
        </p:blipFill>
        <p:spPr>
          <a:xfrm>
            <a:off x="6860540" y="3302635"/>
            <a:ext cx="3727450" cy="2877185"/>
          </a:xfrm>
          <a:prstGeom prst="rect">
            <a:avLst/>
          </a:prstGeom>
        </p:spPr>
      </p:pic>
      <p:pic>
        <p:nvPicPr>
          <p:cNvPr id="9" name="Content Placeholder 7"/>
          <p:cNvPicPr>
            <a:picLocks noChangeAspect="1"/>
          </p:cNvPicPr>
          <p:nvPr>
            <p:ph sz="half" idx="2"/>
          </p:nvPr>
        </p:nvPicPr>
        <p:blipFill>
          <a:blip r:embed="rId2"/>
          <a:stretch>
            <a:fillRect/>
          </a:stretch>
        </p:blipFill>
        <p:spPr>
          <a:xfrm>
            <a:off x="1038225" y="3302635"/>
            <a:ext cx="3832225" cy="287655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39801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37908" y="304800"/>
            <a:ext cx="251968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Extract Year &amp; Month</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5" name="Rectangles 4"/>
          <p:cNvSpPr/>
          <p:nvPr/>
        </p:nvSpPr>
        <p:spPr>
          <a:xfrm>
            <a:off x="1230630" y="1203325"/>
            <a:ext cx="8843010" cy="160020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t>Extract Year &amp; Month to see more information about the relation between them &amp; the qualified_leads </a:t>
            </a:r>
            <a:endParaRPr lang="en-US" sz="2400"/>
          </a:p>
        </p:txBody>
      </p:sp>
      <p:pic>
        <p:nvPicPr>
          <p:cNvPr id="10" name="Content Placeholder 9" descr="8"/>
          <p:cNvPicPr>
            <a:picLocks noChangeAspect="1"/>
          </p:cNvPicPr>
          <p:nvPr>
            <p:ph sz="half" idx="1"/>
          </p:nvPr>
        </p:nvPicPr>
        <p:blipFill>
          <a:blip r:embed="rId1"/>
          <a:stretch>
            <a:fillRect/>
          </a:stretch>
        </p:blipFill>
        <p:spPr>
          <a:xfrm>
            <a:off x="666115" y="3333115"/>
            <a:ext cx="5181600" cy="3086735"/>
          </a:xfrm>
          <a:prstGeom prst="rect">
            <a:avLst/>
          </a:prstGeom>
        </p:spPr>
      </p:pic>
      <p:pic>
        <p:nvPicPr>
          <p:cNvPr id="12" name="Content Placeholder 11" descr="9"/>
          <p:cNvPicPr>
            <a:picLocks noChangeAspect="1"/>
          </p:cNvPicPr>
          <p:nvPr>
            <p:ph sz="half" idx="2"/>
          </p:nvPr>
        </p:nvPicPr>
        <p:blipFill>
          <a:blip r:embed="rId2"/>
          <a:stretch>
            <a:fillRect/>
          </a:stretch>
        </p:blipFill>
        <p:spPr>
          <a:xfrm>
            <a:off x="6172200" y="3333750"/>
            <a:ext cx="5181600" cy="30867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435038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Empute Missing Values with the Mean</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8" name="Content Placeholder 7" descr="11"/>
          <p:cNvPicPr>
            <a:picLocks noChangeAspect="1"/>
          </p:cNvPicPr>
          <p:nvPr>
            <p:ph idx="1"/>
          </p:nvPr>
        </p:nvPicPr>
        <p:blipFill>
          <a:blip r:embed="rId1"/>
          <a:stretch>
            <a:fillRect/>
          </a:stretch>
        </p:blipFill>
        <p:spPr>
          <a:xfrm>
            <a:off x="563880" y="1466215"/>
            <a:ext cx="10652760" cy="5054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4350385"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Empute Missing Values with the Mean</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5" name="Rectangles 4"/>
          <p:cNvSpPr/>
          <p:nvPr/>
        </p:nvSpPr>
        <p:spPr>
          <a:xfrm>
            <a:off x="1674495" y="2115820"/>
            <a:ext cx="8843010" cy="262636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Now We’re gonna separate the qualified_leads and low_qualified_leads to look into differences between them.</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199771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Check Duplecats</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3" name="Content Placeholder 2"/>
          <p:cNvPicPr>
            <a:picLocks noChangeAspect="1"/>
          </p:cNvPicPr>
          <p:nvPr>
            <p:ph idx="1"/>
          </p:nvPr>
        </p:nvPicPr>
        <p:blipFill>
          <a:blip r:embed="rId1"/>
          <a:stretch>
            <a:fillRect/>
          </a:stretch>
        </p:blipFill>
        <p:spPr>
          <a:xfrm>
            <a:off x="355600" y="1021715"/>
            <a:ext cx="7651750" cy="5506085"/>
          </a:xfrm>
          <a:prstGeom prst="rect">
            <a:avLst/>
          </a:prstGeom>
        </p:spPr>
      </p:pic>
      <p:sp>
        <p:nvSpPr>
          <p:cNvPr id="2" name="Rectangles 1"/>
          <p:cNvSpPr/>
          <p:nvPr/>
        </p:nvSpPr>
        <p:spPr>
          <a:xfrm>
            <a:off x="8463915" y="1466850"/>
            <a:ext cx="3592195" cy="399859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Here WE see that Qualified Leads have 2966 duplicats while low_qualified leads have 1590 duplicates </a:t>
            </a: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217551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Handling Outliers </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7935595" y="1466850"/>
            <a:ext cx="4120515" cy="399859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Before we see that there is outliers in the data , so we’re gonna handle them using IQR </a:t>
            </a:r>
            <a:endParaRPr lang="en-US" sz="2400">
              <a:sym typeface="+mn-ea"/>
            </a:endParaRPr>
          </a:p>
          <a:p>
            <a:pPr algn="l"/>
            <a:r>
              <a:rPr lang="en-US" sz="2400"/>
              <a:t>from this we get : </a:t>
            </a:r>
            <a:endParaRPr lang="en-US" sz="2400"/>
          </a:p>
          <a:p>
            <a:pPr algn="l"/>
            <a:endParaRPr lang="en-US" sz="2400"/>
          </a:p>
          <a:p>
            <a:pPr algn="l"/>
            <a:r>
              <a:rPr lang="en-US" sz="2400"/>
              <a:t>Identified outliers: 14395</a:t>
            </a:r>
            <a:endParaRPr lang="en-US" sz="2400"/>
          </a:p>
          <a:p>
            <a:pPr algn="l"/>
            <a:endParaRPr lang="en-US" sz="2400"/>
          </a:p>
          <a:p>
            <a:pPr algn="l"/>
            <a:r>
              <a:rPr lang="en-US" sz="2400"/>
              <a:t>Non-outlier observations: 72178</a:t>
            </a:r>
            <a:endParaRPr lang="en-US" sz="2400"/>
          </a:p>
        </p:txBody>
      </p:sp>
      <p:pic>
        <p:nvPicPr>
          <p:cNvPr id="8" name="Content Placeholder 7" descr="122"/>
          <p:cNvPicPr>
            <a:picLocks noChangeAspect="1"/>
          </p:cNvPicPr>
          <p:nvPr>
            <p:ph idx="1"/>
          </p:nvPr>
        </p:nvPicPr>
        <p:blipFill>
          <a:blip r:embed="rId1"/>
          <a:stretch>
            <a:fillRect/>
          </a:stretch>
        </p:blipFill>
        <p:spPr>
          <a:xfrm>
            <a:off x="252730" y="922020"/>
            <a:ext cx="7233285" cy="57924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77952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Check If The Data is Unbalanced </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771525" y="1195705"/>
            <a:ext cx="9959975" cy="245999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This dataset is unbalanced which means using the data as it is might result in unwanted behaviour from a supervised classifier. To make it easy to understand if a classifier were to train with this data set trying to achieve the best accuracy possible it would most likely label every transaction as a non-fraud</a:t>
            </a:r>
            <a:endParaRPr lang="en-US" sz="2400"/>
          </a:p>
        </p:txBody>
      </p:sp>
      <p:pic>
        <p:nvPicPr>
          <p:cNvPr id="5" name="Content Placeholder 4" descr="133"/>
          <p:cNvPicPr>
            <a:picLocks noChangeAspect="1"/>
          </p:cNvPicPr>
          <p:nvPr>
            <p:ph sz="half" idx="1"/>
          </p:nvPr>
        </p:nvPicPr>
        <p:blipFill>
          <a:blip r:embed="rId1"/>
          <a:stretch>
            <a:fillRect/>
          </a:stretch>
        </p:blipFill>
        <p:spPr>
          <a:xfrm>
            <a:off x="563880" y="3836035"/>
            <a:ext cx="4752975" cy="2895600"/>
          </a:xfrm>
          <a:prstGeom prst="rect">
            <a:avLst/>
          </a:prstGeom>
        </p:spPr>
      </p:pic>
      <p:pic>
        <p:nvPicPr>
          <p:cNvPr id="10" name="Content Placeholder 9" descr="22"/>
          <p:cNvPicPr>
            <a:picLocks noChangeAspect="1"/>
          </p:cNvPicPr>
          <p:nvPr>
            <p:ph sz="half" idx="2"/>
          </p:nvPr>
        </p:nvPicPr>
        <p:blipFill>
          <a:blip r:embed="rId2"/>
          <a:stretch>
            <a:fillRect/>
          </a:stretch>
        </p:blipFill>
        <p:spPr>
          <a:xfrm>
            <a:off x="6529070" y="4146550"/>
            <a:ext cx="4824730" cy="22904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77952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Check If The Data is Unbalanced </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355600" y="1181100"/>
            <a:ext cx="11420475" cy="449643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To answer this problem we could use the oversampling principle or the undersampling principle The undersampling principle should be used only if we can be sure that the selected few tuples are representative of the whole  dataset.</a:t>
            </a:r>
            <a:endParaRPr lang="en-US" sz="240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62712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Features Distribution VS Target </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3" name="Content Placeholder 2" descr="111"/>
          <p:cNvPicPr>
            <a:picLocks noChangeAspect="1"/>
          </p:cNvPicPr>
          <p:nvPr>
            <p:ph idx="1"/>
          </p:nvPr>
        </p:nvPicPr>
        <p:blipFill>
          <a:blip r:embed="rId1"/>
          <a:stretch>
            <a:fillRect/>
          </a:stretch>
        </p:blipFill>
        <p:spPr>
          <a:xfrm>
            <a:off x="875030" y="905510"/>
            <a:ext cx="10719435" cy="55905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274637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Correlation of Features </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5" name="Content Placeholder 4" descr="5"/>
          <p:cNvPicPr>
            <a:picLocks noChangeAspect="1"/>
          </p:cNvPicPr>
          <p:nvPr>
            <p:ph sz="half" idx="1"/>
          </p:nvPr>
        </p:nvPicPr>
        <p:blipFill>
          <a:blip r:embed="rId1"/>
          <a:stretch>
            <a:fillRect/>
          </a:stretch>
        </p:blipFill>
        <p:spPr>
          <a:xfrm>
            <a:off x="252095" y="1924050"/>
            <a:ext cx="4939665" cy="4667885"/>
          </a:xfrm>
          <a:prstGeom prst="rect">
            <a:avLst/>
          </a:prstGeom>
        </p:spPr>
      </p:pic>
      <p:pic>
        <p:nvPicPr>
          <p:cNvPr id="9" name="Content Placeholder 8" descr="55"/>
          <p:cNvPicPr>
            <a:picLocks noChangeAspect="1"/>
          </p:cNvPicPr>
          <p:nvPr>
            <p:ph sz="half" idx="2"/>
          </p:nvPr>
        </p:nvPicPr>
        <p:blipFill>
          <a:blip r:embed="rId2"/>
          <a:stretch>
            <a:fillRect/>
          </a:stretch>
        </p:blipFill>
        <p:spPr>
          <a:xfrm>
            <a:off x="5861685" y="1924050"/>
            <a:ext cx="5876925" cy="46678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s 4"/>
          <p:cNvSpPr/>
          <p:nvPr/>
        </p:nvSpPr>
        <p:spPr>
          <a:xfrm>
            <a:off x="686435" y="1648460"/>
            <a:ext cx="10923270" cy="356171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3600" b="1">
                <a:sym typeface="+mn-ea"/>
              </a:rPr>
              <a:t>Explore the relation between the features and the target </a:t>
            </a:r>
            <a:endParaRPr lang="en-US" sz="3600" b="1">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134"/>
          <p:cNvPicPr>
            <a:picLocks noChangeAspect="1"/>
          </p:cNvPicPr>
          <p:nvPr>
            <p:ph idx="1"/>
          </p:nvPr>
        </p:nvPicPr>
        <p:blipFill>
          <a:blip r:embed="rId1"/>
          <a:stretch>
            <a:fillRect/>
          </a:stretch>
        </p:blipFill>
        <p:spPr>
          <a:xfrm>
            <a:off x="1310640" y="489585"/>
            <a:ext cx="9704705" cy="56864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144"/>
          <p:cNvPicPr>
            <a:picLocks noChangeAspect="1"/>
          </p:cNvPicPr>
          <p:nvPr>
            <p:ph idx="1"/>
          </p:nvPr>
        </p:nvPicPr>
        <p:blipFill>
          <a:blip r:embed="rId1"/>
          <a:stretch>
            <a:fillRect/>
          </a:stretch>
        </p:blipFill>
        <p:spPr>
          <a:xfrm>
            <a:off x="1363345" y="905510"/>
            <a:ext cx="9463405" cy="5435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23"/>
          <p:cNvPicPr>
            <a:picLocks noChangeAspect="1"/>
          </p:cNvPicPr>
          <p:nvPr>
            <p:ph sz="half" idx="2"/>
          </p:nvPr>
        </p:nvPicPr>
        <p:blipFill>
          <a:blip r:embed="rId1"/>
          <a:stretch>
            <a:fillRect/>
          </a:stretch>
        </p:blipFill>
        <p:spPr>
          <a:xfrm>
            <a:off x="1476375" y="928370"/>
            <a:ext cx="9239885" cy="56362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4"/>
          <p:cNvPicPr>
            <a:picLocks noChangeAspect="1"/>
          </p:cNvPicPr>
          <p:nvPr>
            <p:ph idx="1"/>
          </p:nvPr>
        </p:nvPicPr>
        <p:blipFill>
          <a:blip r:embed="rId1"/>
          <a:stretch>
            <a:fillRect/>
          </a:stretch>
        </p:blipFill>
        <p:spPr>
          <a:xfrm>
            <a:off x="1543685" y="768985"/>
            <a:ext cx="9103995" cy="55772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5"/>
          <p:cNvPicPr>
            <a:picLocks noChangeAspect="1"/>
          </p:cNvPicPr>
          <p:nvPr>
            <p:ph idx="1"/>
          </p:nvPr>
        </p:nvPicPr>
        <p:blipFill>
          <a:blip r:embed="rId1"/>
          <a:stretch>
            <a:fillRect/>
          </a:stretch>
        </p:blipFill>
        <p:spPr>
          <a:xfrm>
            <a:off x="1266825" y="735965"/>
            <a:ext cx="9042400" cy="53860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28"/>
          <p:cNvPicPr>
            <a:picLocks noChangeAspect="1"/>
          </p:cNvPicPr>
          <p:nvPr>
            <p:ph sz="half" idx="2"/>
          </p:nvPr>
        </p:nvPicPr>
        <p:blipFill>
          <a:blip r:embed="rId1"/>
          <a:stretch>
            <a:fillRect/>
          </a:stretch>
        </p:blipFill>
        <p:spPr>
          <a:xfrm>
            <a:off x="709930" y="1167130"/>
            <a:ext cx="11005820" cy="492950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9"/>
          <p:cNvPicPr>
            <a:picLocks noChangeAspect="1"/>
          </p:cNvPicPr>
          <p:nvPr>
            <p:ph idx="1"/>
          </p:nvPr>
        </p:nvPicPr>
        <p:blipFill>
          <a:blip r:embed="rId1"/>
          <a:stretch>
            <a:fillRect/>
          </a:stretch>
        </p:blipFill>
        <p:spPr>
          <a:xfrm>
            <a:off x="965200" y="365760"/>
            <a:ext cx="10819765" cy="59429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30"/>
          <p:cNvPicPr>
            <a:picLocks noChangeAspect="1"/>
          </p:cNvPicPr>
          <p:nvPr>
            <p:ph idx="1"/>
          </p:nvPr>
        </p:nvPicPr>
        <p:blipFill>
          <a:blip r:embed="rId1"/>
          <a:stretch>
            <a:fillRect/>
          </a:stretch>
        </p:blipFill>
        <p:spPr>
          <a:xfrm>
            <a:off x="583565" y="681990"/>
            <a:ext cx="10783570" cy="52641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1643380" cy="368300"/>
          </a:xfrm>
          <a:prstGeom prst="rect">
            <a:avLst/>
          </a:prstGeom>
          <a:noFill/>
          <a:ln w="9525">
            <a:noFill/>
          </a:ln>
        </p:spPr>
        <p:txBody>
          <a:bodyPr wrap="none">
            <a:spAutoFit/>
          </a:bodyPr>
          <a:lstStyle/>
          <a:p>
            <a:pPr eaLnBrk="1" hangingPunct="1"/>
            <a:r>
              <a:rPr lang="en-US" altLang="zh-CN" dirty="0">
                <a:solidFill>
                  <a:srgbClr val="00B8BA"/>
                </a:solidFill>
                <a:latin typeface="Microsoft YaHei" panose="020B0503020204020204" pitchFamily="34" charset="-122"/>
                <a:ea typeface="Microsoft YaHei" panose="020B0503020204020204" pitchFamily="34" charset="-122"/>
              </a:rPr>
              <a:t>Split the data</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771525" y="1195705"/>
            <a:ext cx="9959975" cy="87566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Split the train data and the test data </a:t>
            </a:r>
            <a:endParaRPr lang="en-US" sz="2400">
              <a:sym typeface="+mn-ea"/>
            </a:endParaRPr>
          </a:p>
          <a:p>
            <a:pPr algn="l"/>
            <a:r>
              <a:rPr lang="en-US" sz="2400"/>
              <a:t>Do Sampling only for the train data</a:t>
            </a:r>
            <a:endParaRPr lang="en-US" sz="2400"/>
          </a:p>
        </p:txBody>
      </p:sp>
      <p:pic>
        <p:nvPicPr>
          <p:cNvPr id="9" name="Content Placeholder 8"/>
          <p:cNvPicPr>
            <a:picLocks noChangeAspect="1"/>
          </p:cNvPicPr>
          <p:nvPr>
            <p:ph idx="1"/>
          </p:nvPr>
        </p:nvPicPr>
        <p:blipFill>
          <a:blip r:embed="rId1"/>
          <a:stretch>
            <a:fillRect/>
          </a:stretch>
        </p:blipFill>
        <p:spPr>
          <a:xfrm>
            <a:off x="771525" y="2578100"/>
            <a:ext cx="10573385" cy="36004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07784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No under or oversampling</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1450975" y="1935480"/>
            <a:ext cx="9959975" cy="34848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First, we need a baseline metric with a simple logistic regression trained on the original unbalanced data.</a:t>
            </a:r>
            <a:endParaRPr lang="en-US" sz="2400">
              <a:sym typeface="+mn-ea"/>
            </a:endParaRPr>
          </a:p>
          <a:p>
            <a:pPr algn="l"/>
            <a:endParaRPr lang="en-US" sz="2400">
              <a:sym typeface="+mn-ea"/>
            </a:endParaRPr>
          </a:p>
          <a:p>
            <a:pPr algn="l"/>
            <a:r>
              <a:rPr lang="en-US" sz="2400">
                <a:sym typeface="+mn-ea"/>
              </a:rPr>
              <a:t>Since we want to avoid false negatives, recall is what we should to look at.</a:t>
            </a:r>
            <a:endParaRPr lang="en-US" sz="24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07784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No under or oversampling</a:t>
            </a:r>
            <a:endParaRPr lang="en-US" altLang="zh-CN" dirty="0">
              <a:solidFill>
                <a:srgbClr val="00B8BA"/>
              </a:solidFill>
              <a:latin typeface="Microsoft YaHei" panose="020B0503020204020204" pitchFamily="34" charset="-122"/>
              <a:ea typeface="Microsoft YaHei" panose="020B0503020204020204" pitchFamily="34" charset="-122"/>
            </a:endParaRPr>
          </a:p>
        </p:txBody>
      </p:sp>
      <p:pic>
        <p:nvPicPr>
          <p:cNvPr id="5" name="Content Placeholder 4" descr="1111"/>
          <p:cNvPicPr>
            <a:picLocks noChangeAspect="1"/>
          </p:cNvPicPr>
          <p:nvPr>
            <p:ph sz="half" idx="1"/>
          </p:nvPr>
        </p:nvPicPr>
        <p:blipFill>
          <a:blip r:embed="rId1"/>
          <a:stretch>
            <a:fillRect/>
          </a:stretch>
        </p:blipFill>
        <p:spPr>
          <a:xfrm>
            <a:off x="961390" y="1858010"/>
            <a:ext cx="4933950" cy="4286250"/>
          </a:xfrm>
          <a:prstGeom prst="rect">
            <a:avLst/>
          </a:prstGeom>
        </p:spPr>
      </p:pic>
      <p:pic>
        <p:nvPicPr>
          <p:cNvPr id="10" name="Content Placeholder 9" descr="1112"/>
          <p:cNvPicPr>
            <a:picLocks noChangeAspect="1"/>
          </p:cNvPicPr>
          <p:nvPr>
            <p:ph sz="half" idx="2"/>
          </p:nvPr>
        </p:nvPicPr>
        <p:blipFill>
          <a:blip r:embed="rId2"/>
          <a:stretch>
            <a:fillRect/>
          </a:stretch>
        </p:blipFill>
        <p:spPr>
          <a:xfrm>
            <a:off x="6172200" y="1925955"/>
            <a:ext cx="5181600" cy="41503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307784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No under or oversampling</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1450975" y="1935480"/>
            <a:ext cx="9959975" cy="348488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We see that without under or over sampling, we achieve a mere 85% recall on the test set with logistic regression. As expected, random forest classifier works better than logistic regression even without hyperparameter tuning due to its ensemble nature.</a:t>
            </a:r>
            <a:endParaRPr lang="en-US" sz="240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185991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Undersampling</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771525" y="1030605"/>
            <a:ext cx="9959975" cy="108648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Here we will undersample the majority class  without replacement to match the number of the minority class</a:t>
            </a:r>
            <a:endParaRPr lang="en-US" sz="2400">
              <a:sym typeface="+mn-ea"/>
            </a:endParaRPr>
          </a:p>
        </p:txBody>
      </p:sp>
      <p:pic>
        <p:nvPicPr>
          <p:cNvPr id="3" name="Content Placeholder 2" descr="222"/>
          <p:cNvPicPr>
            <a:picLocks noChangeAspect="1"/>
          </p:cNvPicPr>
          <p:nvPr>
            <p:ph sz="half" idx="1"/>
          </p:nvPr>
        </p:nvPicPr>
        <p:blipFill>
          <a:blip r:embed="rId1"/>
          <a:stretch>
            <a:fillRect/>
          </a:stretch>
        </p:blipFill>
        <p:spPr>
          <a:xfrm>
            <a:off x="838200" y="2347595"/>
            <a:ext cx="4514850" cy="4257675"/>
          </a:xfrm>
          <a:prstGeom prst="rect">
            <a:avLst/>
          </a:prstGeom>
        </p:spPr>
      </p:pic>
      <p:pic>
        <p:nvPicPr>
          <p:cNvPr id="8" name="Content Placeholder 7" descr="223"/>
          <p:cNvPicPr>
            <a:picLocks noChangeAspect="1"/>
          </p:cNvPicPr>
          <p:nvPr>
            <p:ph sz="half" idx="2"/>
          </p:nvPr>
        </p:nvPicPr>
        <p:blipFill>
          <a:blip r:embed="rId2"/>
          <a:stretch>
            <a:fillRect/>
          </a:stretch>
        </p:blipFill>
        <p:spPr>
          <a:xfrm>
            <a:off x="6523990" y="2347595"/>
            <a:ext cx="5133975" cy="4267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1706245"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Oversampling</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771525" y="1030605"/>
            <a:ext cx="9959975" cy="108648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400">
                <a:sym typeface="+mn-ea"/>
              </a:rPr>
              <a:t>Here we will oversample the minority class with replacement to match the number of the majority class .</a:t>
            </a:r>
            <a:endParaRPr lang="en-US" sz="2400">
              <a:sym typeface="+mn-ea"/>
            </a:endParaRPr>
          </a:p>
        </p:txBody>
      </p:sp>
      <p:pic>
        <p:nvPicPr>
          <p:cNvPr id="10" name="Content Placeholder 9" descr="333"/>
          <p:cNvPicPr>
            <a:picLocks noChangeAspect="1"/>
          </p:cNvPicPr>
          <p:nvPr>
            <p:ph sz="half" idx="1"/>
          </p:nvPr>
        </p:nvPicPr>
        <p:blipFill>
          <a:blip r:embed="rId1"/>
          <a:stretch>
            <a:fillRect/>
          </a:stretch>
        </p:blipFill>
        <p:spPr>
          <a:xfrm>
            <a:off x="816610" y="2579370"/>
            <a:ext cx="4933950" cy="3983990"/>
          </a:xfrm>
          <a:prstGeom prst="rect">
            <a:avLst/>
          </a:prstGeom>
        </p:spPr>
      </p:pic>
      <p:pic>
        <p:nvPicPr>
          <p:cNvPr id="12" name="Content Placeholder 11" descr="334"/>
          <p:cNvPicPr>
            <a:picLocks noChangeAspect="1"/>
          </p:cNvPicPr>
          <p:nvPr>
            <p:ph sz="half" idx="2"/>
          </p:nvPr>
        </p:nvPicPr>
        <p:blipFill>
          <a:blip r:embed="rId2"/>
          <a:stretch>
            <a:fillRect/>
          </a:stretch>
        </p:blipFill>
        <p:spPr>
          <a:xfrm>
            <a:off x="6172200" y="2597785"/>
            <a:ext cx="5181600" cy="39655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63880" y="273050"/>
            <a:ext cx="5186680"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菱形 3"/>
          <p:cNvSpPr/>
          <p:nvPr/>
        </p:nvSpPr>
        <p:spPr>
          <a:xfrm>
            <a:off x="252413" y="177800"/>
            <a:ext cx="622300" cy="622300"/>
          </a:xfrm>
          <a:prstGeom prst="diamond">
            <a:avLst/>
          </a:prstGeom>
          <a:solidFill>
            <a:schemeClr val="bg1"/>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菱形 6"/>
          <p:cNvSpPr/>
          <p:nvPr/>
        </p:nvSpPr>
        <p:spPr>
          <a:xfrm>
            <a:off x="355600" y="273050"/>
            <a:ext cx="415925" cy="415925"/>
          </a:xfrm>
          <a:prstGeom prst="diamond">
            <a:avLst/>
          </a:prstGeom>
          <a:solidFill>
            <a:srgbClr val="00B8BA"/>
          </a:solidFill>
          <a:ln>
            <a:noFill/>
          </a:ln>
          <a:effectLst>
            <a:outerShdw blurRad="2159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45" name="文本框 7"/>
          <p:cNvSpPr txBox="1"/>
          <p:nvPr/>
        </p:nvSpPr>
        <p:spPr>
          <a:xfrm>
            <a:off x="1082993" y="320675"/>
            <a:ext cx="1357630" cy="368300"/>
          </a:xfrm>
          <a:prstGeom prst="rect">
            <a:avLst/>
          </a:prstGeom>
          <a:noFill/>
          <a:ln w="9525">
            <a:noFill/>
          </a:ln>
        </p:spPr>
        <p:txBody>
          <a:bodyPr wrap="none">
            <a:spAutoFit/>
          </a:bodyPr>
          <a:lstStyle/>
          <a:p>
            <a:pPr algn="l" eaLnBrk="1" hangingPunct="1"/>
            <a:r>
              <a:rPr lang="en-US" altLang="zh-CN" dirty="0">
                <a:solidFill>
                  <a:srgbClr val="00B8BA"/>
                </a:solidFill>
                <a:latin typeface="Microsoft YaHei" panose="020B0503020204020204" pitchFamily="34" charset="-122"/>
                <a:ea typeface="Microsoft YaHei" panose="020B0503020204020204" pitchFamily="34" charset="-122"/>
              </a:rPr>
              <a:t>Next Stpes</a:t>
            </a:r>
            <a:endParaRPr lang="en-US" altLang="zh-CN" dirty="0">
              <a:solidFill>
                <a:srgbClr val="00B8BA"/>
              </a:solidFill>
              <a:latin typeface="Microsoft YaHei" panose="020B0503020204020204" pitchFamily="34" charset="-122"/>
              <a:ea typeface="Microsoft YaHei" panose="020B0503020204020204" pitchFamily="34" charset="-122"/>
            </a:endParaRPr>
          </a:p>
        </p:txBody>
      </p:sp>
      <p:sp>
        <p:nvSpPr>
          <p:cNvPr id="2" name="Rectangles 1"/>
          <p:cNvSpPr/>
          <p:nvPr/>
        </p:nvSpPr>
        <p:spPr>
          <a:xfrm>
            <a:off x="1083310" y="1007110"/>
            <a:ext cx="9959975" cy="22777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800" b="1">
                <a:sym typeface="+mn-ea"/>
              </a:rPr>
              <a:t>Using K-means clustering to undersample</a:t>
            </a:r>
            <a:endParaRPr lang="en-US" sz="2800" b="1">
              <a:sym typeface="+mn-ea"/>
            </a:endParaRPr>
          </a:p>
          <a:p>
            <a:pPr algn="l"/>
            <a:endParaRPr lang="en-US" sz="2800" b="1">
              <a:sym typeface="+mn-ea"/>
            </a:endParaRPr>
          </a:p>
          <a:p>
            <a:pPr algn="l"/>
            <a:r>
              <a:rPr lang="en-US" sz="2400">
                <a:sym typeface="+mn-ea"/>
              </a:rPr>
              <a:t>We will use K-means clustering to reduce the number of majority class instances to match the number of minority class instances. The number of clusters should be equal to the number of minority class instances</a:t>
            </a:r>
            <a:endParaRPr lang="en-US" sz="2400">
              <a:sym typeface="+mn-ea"/>
            </a:endParaRPr>
          </a:p>
        </p:txBody>
      </p:sp>
      <p:sp>
        <p:nvSpPr>
          <p:cNvPr id="3" name="Rectangles 2"/>
          <p:cNvSpPr/>
          <p:nvPr/>
        </p:nvSpPr>
        <p:spPr>
          <a:xfrm>
            <a:off x="1083310" y="3587115"/>
            <a:ext cx="9959975" cy="245872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sz="2800" b="1">
                <a:sym typeface="+mn-ea"/>
              </a:rPr>
              <a:t>Using SMOTE(Synthetic Minority Over-Sampling Technique) to oversample</a:t>
            </a:r>
            <a:endParaRPr lang="en-US" sz="2800" b="1">
              <a:sym typeface="+mn-ea"/>
            </a:endParaRPr>
          </a:p>
          <a:p>
            <a:pPr algn="l"/>
            <a:r>
              <a:rPr lang="en-US" sz="2400">
                <a:sym typeface="+mn-ea"/>
              </a:rPr>
              <a:t>To oversample, SMOTE chooses the midpoint between a minority sample and one of its k-nearest neighbors, and adds random perturbation to synthesize a new sample It is one of the most popular ways to deal with imbalanced data.</a:t>
            </a:r>
            <a:endParaRPr lang="en-US" sz="2400">
              <a:sym typeface="+mn-ea"/>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3632</Words>
  <Application>WPS Presentation</Application>
  <PresentationFormat>自定义</PresentationFormat>
  <Paragraphs>123</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Arial</vt:lpstr>
      <vt:lpstr>SimSun</vt:lpstr>
      <vt:lpstr>Wingdings</vt:lpstr>
      <vt:lpstr>Calibri</vt:lpstr>
      <vt:lpstr>Microsoft YaHei</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rowan</cp:lastModifiedBy>
  <cp:revision>25</cp:revision>
  <dcterms:created xsi:type="dcterms:W3CDTF">2015-10-15T13:48:00Z</dcterms:created>
  <dcterms:modified xsi:type="dcterms:W3CDTF">2022-06-24T01:31:24Z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1033-11.2.0.10451</vt:lpwstr>
  </property>
  <property fmtid="{D5CDD505-2E9C-101B-9397-08002B2CF9AE}" pid="3" name="ICV">
    <vt:lpwstr>08B9EA652F9C4EC0AAF1453EA4824C4F</vt:lpwstr>
  </property>
</Properties>
</file>